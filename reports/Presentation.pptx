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Mutual Fund Analytics Capstone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/>
            </a:pPr>
            <a:r>
              <a:t>Final Project Presentation</a:t>
            </a:r>
          </a:p>
          <a:p>
            <a:pPr>
              <a:defRPr sz="2200"/>
            </a:pPr>
            <a:r>
              <a:t>Srinivas Dadi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End-to-end mutual fund analytics platform</a:t>
            </a:r>
          </a:p>
          <a:p>
            <a:pPr>
              <a:defRPr sz="2200"/>
            </a:pPr>
            <a:r>
              <a:t>• Python, SQLite, Power BI</a:t>
            </a:r>
          </a:p>
          <a:p>
            <a:pPr>
              <a:defRPr sz="2200"/>
            </a:pPr>
            <a:r>
              <a:t>• Investment insights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ETL Pipeline</a:t>
            </a:r>
          </a:p>
          <a:p>
            <a:pPr>
              <a:defRPr sz="2200"/>
            </a:pPr>
            <a:r>
              <a:t>• Data Cleaning</a:t>
            </a:r>
          </a:p>
          <a:p>
            <a:pPr>
              <a:defRPr sz="2200"/>
            </a:pPr>
            <a:r>
              <a:t>• EDA</a:t>
            </a:r>
          </a:p>
          <a:p>
            <a:pPr>
              <a:defRPr sz="2200"/>
            </a:pPr>
            <a:r>
              <a:t>• Performance Analytics</a:t>
            </a:r>
          </a:p>
          <a:p>
            <a:pPr>
              <a:defRPr sz="2200"/>
            </a:pPr>
            <a:r>
              <a:t>• Advanced Analytics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NAV History</a:t>
            </a:r>
          </a:p>
          <a:p>
            <a:pPr>
              <a:defRPr sz="2200"/>
            </a:pPr>
            <a:r>
              <a:t>• Scheme Performance</a:t>
            </a:r>
          </a:p>
          <a:p>
            <a:pPr>
              <a:defRPr sz="2200"/>
            </a:pPr>
            <a:r>
              <a:t>• Investor Transactions</a:t>
            </a:r>
          </a:p>
          <a:p>
            <a:pPr>
              <a:defRPr sz="2200"/>
            </a:pPr>
            <a:r>
              <a:t>• Portfolio Holdings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ETL &amp; Database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Automated ingestion</a:t>
            </a:r>
          </a:p>
          <a:p>
            <a:pPr>
              <a:defRPr sz="2200"/>
            </a:pPr>
            <a:r>
              <a:t>• Validation &amp; cleaning</a:t>
            </a:r>
          </a:p>
          <a:p>
            <a:pPr>
              <a:defRPr sz="2200"/>
            </a:pPr>
            <a:r>
              <a:t>• SQLite storage</a:t>
            </a:r>
          </a:p>
          <a:p>
            <a:pPr>
              <a:defRPr sz="2200"/>
            </a:pPr>
            <a:r>
              <a:t>• SQL schema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&amp;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Trends &amp; distributions</a:t>
            </a:r>
          </a:p>
          <a:p>
            <a:pPr>
              <a:defRPr sz="2200"/>
            </a:pPr>
            <a:r>
              <a:t>• Investor analysis</a:t>
            </a:r>
          </a:p>
          <a:p>
            <a:pPr>
              <a:defRPr sz="2200"/>
            </a:pPr>
            <a:r>
              <a:t>• Interactive Power BI dashboard</a:t>
            </a:r>
          </a:p>
          <a:p>
            <a:pPr>
              <a:defRPr sz="2200"/>
            </a:pPr>
            <a:r>
              <a:t>• KPI cards &amp; slicers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CAGR</a:t>
            </a:r>
          </a:p>
          <a:p>
            <a:pPr>
              <a:defRPr sz="2200"/>
            </a:pPr>
            <a:r>
              <a:t>• Sharpe Ratio</a:t>
            </a:r>
          </a:p>
          <a:p>
            <a:pPr>
              <a:defRPr sz="2200"/>
            </a:pPr>
            <a:r>
              <a:t>• Alpha/Beta</a:t>
            </a:r>
          </a:p>
          <a:p>
            <a:pPr>
              <a:defRPr sz="2200"/>
            </a:pPr>
            <a:r>
              <a:t>• Sortino</a:t>
            </a:r>
          </a:p>
          <a:p>
            <a:pPr>
              <a:defRPr sz="2200"/>
            </a:pPr>
            <a:r>
              <a:t>• Maximum Drawdown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Historical VaR &amp; CVaR</a:t>
            </a:r>
          </a:p>
          <a:p>
            <a:pPr>
              <a:defRPr sz="2200"/>
            </a:pPr>
            <a:r>
              <a:t>• Rolling 90-Day Sharpe</a:t>
            </a:r>
          </a:p>
          <a:p>
            <a:pPr>
              <a:defRPr sz="2200"/>
            </a:pPr>
            <a:r>
              <a:t>• Cohort Analysis</a:t>
            </a:r>
          </a:p>
          <a:p>
            <a:pPr>
              <a:defRPr sz="2200"/>
            </a:pPr>
            <a:r>
              <a:t>• SIP Continuity</a:t>
            </a:r>
          </a:p>
          <a:p>
            <a:pPr>
              <a:defRPr sz="2200"/>
            </a:pPr>
            <a:r>
              <a:t>• HHI</a:t>
            </a:r>
          </a:p>
          <a:p>
            <a:pPr>
              <a:defRPr sz="2200"/>
            </a:pPr>
            <a:r>
              <a:t>• Fund Recommender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Risk-adjusted performance differs across funds</a:t>
            </a:r>
          </a:p>
          <a:p>
            <a:pPr>
              <a:defRPr sz="2200"/>
            </a:pPr>
            <a:r>
              <a:t>• Cohorts show varying investment behaviour</a:t>
            </a:r>
          </a:p>
          <a:p>
            <a:pPr>
              <a:defRPr sz="2200"/>
            </a:pPr>
            <a:r>
              <a:t>• SIP continuity identifies at-risk investors</a:t>
            </a:r>
          </a:p>
          <a:p>
            <a:pPr>
              <a:defRPr sz="2200"/>
            </a:pPr>
            <a:r>
              <a:t>• Concentration measured via HHI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Complete analytics workflow delivered</a:t>
            </a:r>
          </a:p>
          <a:p>
            <a:pPr>
              <a:defRPr sz="2200"/>
            </a:pPr>
            <a:r>
              <a:t>• Actionable investment insights</a:t>
            </a:r>
          </a:p>
          <a:p>
            <a:pPr>
              <a:defRPr sz="2200"/>
            </a:pPr>
            <a:r>
              <a:t>• Scalable architecture</a:t>
            </a:r>
          </a:p>
          <a:p>
            <a:pPr>
              <a:defRPr sz="2200"/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