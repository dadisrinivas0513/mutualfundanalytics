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EA3F7-FEAF-876F-CF81-805C91F988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216554-3E7F-C2A9-96FE-584B0E13AF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D5572-86C7-1510-CE06-690353108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EF4E2-9031-4C33-8436-C1FB0C00C386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B0FE8-4A92-0E59-6466-5F1919F73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940CC-EEDA-86F8-0B0F-E03DFED28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EBB6-73F0-4DF9-AA1A-C99A5F17D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8315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9F2E1-2AA7-4FA3-A4A7-758B6CB2B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2E0DC-48D9-D5AB-FB88-2834E054B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86E3D-435F-E9C9-B980-C98C7D37E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EF4E2-9031-4C33-8436-C1FB0C00C386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79D26-2B3B-B374-DD63-5804C6AE0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49047-A513-3C42-BCC5-305B15F5E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EBB6-73F0-4DF9-AA1A-C99A5F17D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042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FFB1F-EF0F-D3D9-BC21-4D4278125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50D63-EC05-0DAE-ED41-BAA100C2B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EB2D7-FB9B-71D1-365D-77CA0C5C5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EF4E2-9031-4C33-8436-C1FB0C00C386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A4EEA-A462-70E3-AFA6-004A941B1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3711F-A90D-4FB1-1DF4-43C0E3A0E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EBB6-73F0-4DF9-AA1A-C99A5F17D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975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5DBCB-9D16-1FE6-913E-A92D5F768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D8543-B9F9-D5F1-D449-6209BCD030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B56F0B-99E6-6BF2-BD99-78B645B93F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BB4995-5E91-ECBA-95FF-0F5A7BAB8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EF4E2-9031-4C33-8436-C1FB0C00C386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7FA590-B658-C0FE-0FEF-2E1AECA81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47666-38EE-F036-B319-FA4CFAAA4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EBB6-73F0-4DF9-AA1A-C99A5F17D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1730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0A734-E6EB-853B-7697-7D854710E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C97F9D-0EA8-0271-F4CA-C392F656E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1DF33D-784E-656A-A5F3-DD68ECEB3B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839FF-0F43-6AC9-28D8-679DE7A4EB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42208C-7F9C-0033-6C38-9A023B6C8C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0030D6-9B39-1DE7-94B6-D19B6CDE1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EF4E2-9031-4C33-8436-C1FB0C00C386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0A837F-0CD1-5D7E-1631-C183024C0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FAF8F4-DA07-924F-2635-BACF7D325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EBB6-73F0-4DF9-AA1A-C99A5F17D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1166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DD356-9ECE-7B3B-97B5-FC9453344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1FE6CD-96FF-5DDF-5265-915AE56EE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EF4E2-9031-4C33-8436-C1FB0C00C386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976654-BE0A-4401-538F-DB5982FFF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BFF04F-BA28-5B6A-F828-6FD04C19E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EBB6-73F0-4DF9-AA1A-C99A5F17D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677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49F834-C9AA-6141-9CE5-AC9E77ABB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EF4E2-9031-4C33-8436-C1FB0C00C386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D2C281-6178-3CEE-CD14-65D7D1F28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F1768-BFD4-E0FD-F25C-BF093C9E3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EBB6-73F0-4DF9-AA1A-C99A5F17D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126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2CFB3-396C-BAF8-656D-465C7B357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B9E35-B588-7A76-E264-2AAE69EA6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4D9243-1ACE-12B0-B39D-98AF53AD1B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A0FBC9-0F12-808C-B2F8-D76EA4128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EF4E2-9031-4C33-8436-C1FB0C00C386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80C6EE-D2ED-BAFA-5F6A-A67BD5773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649706-4383-C0B4-858D-95369A2CF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EBB6-73F0-4DF9-AA1A-C99A5F17D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603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E52C5-7EA5-1940-E12A-C62327861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993228-7C1D-0752-5E0C-808392890E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5A41AB-3C51-A845-B312-74FE2A1ECA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4D8E19-13AE-A146-304E-91E1168A5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EF4E2-9031-4C33-8436-C1FB0C00C386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DBEB36-888B-D552-2AFF-1F7C0B849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3DC664-DD7E-E106-8B3B-EF2715E9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EBB6-73F0-4DF9-AA1A-C99A5F17D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381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D1DE8-6E7F-7C4D-1B48-236996CF2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3BB1E8-D3E0-CE94-C43D-4452F8A535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0965E-59CD-AA74-C817-97D793AE8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EF4E2-9031-4C33-8436-C1FB0C00C386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FA62E0-5A66-22FD-B78A-C523F20E9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B52B3-EB1C-D7B7-4629-CA6D76682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EBB6-73F0-4DF9-AA1A-C99A5F17D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516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873BDE-B753-8CA5-F7A1-B6081E4827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4B636D-4C69-2274-5867-CB02FF87ED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EEFCF-B972-9240-437C-E2E882A78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EF4E2-9031-4C33-8436-C1FB0C00C386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BE596-55CD-DEC6-1BF2-0AF5F8D66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CBA07-D227-CAA3-78EE-8FD47D00D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9EBB6-73F0-4DF9-AA1A-C99A5F17D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90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8739CC-C6DB-FA27-4885-871AB111A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75FD3-0594-0332-B749-C19A0FD4D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F7711-2B87-925F-E55A-970AC70A74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FEF4E2-9031-4C33-8436-C1FB0C00C386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FC4F2-A0EF-FA06-398A-A10885D78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6C5F2-79D3-6844-FF4E-EB51BEC62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49EBB6-73F0-4DF9-AA1A-C99A5F17D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882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8A40E-E674-EF70-B564-AF893A8876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Mutual Fund Analytics Platform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94468A-7BD7-5F40-B600-0829C66E9D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Bluestock</a:t>
            </a:r>
            <a:r>
              <a:rPr lang="en-US" dirty="0"/>
              <a:t> Fintech Internship</a:t>
            </a:r>
          </a:p>
          <a:p>
            <a:r>
              <a:rPr lang="en-US" dirty="0"/>
              <a:t>Prepared by: Srinivas Dadi</a:t>
            </a:r>
          </a:p>
          <a:p>
            <a:r>
              <a:rPr lang="en-US" dirty="0"/>
              <a:t>June 2026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4878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5D97C-4B6C-E72B-B1BA-BFF4D6E32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3BCC5-BFFE-68E7-37F9-0E6ABB744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Problem Statement</a:t>
            </a:r>
          </a:p>
          <a:p>
            <a:pPr marL="0" indent="0">
              <a:buNone/>
            </a:pPr>
            <a:r>
              <a:rPr lang="en-US" dirty="0"/>
              <a:t>• Business Objective</a:t>
            </a:r>
          </a:p>
          <a:p>
            <a:pPr marL="0" indent="0">
              <a:buNone/>
            </a:pPr>
            <a:r>
              <a:rPr lang="en-US" dirty="0"/>
              <a:t>• Project Scope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1220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29AFF-2614-F60A-771B-CB8B627EA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B45DA-127F-B794-E9AA-B72633C74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AMFI India</a:t>
            </a:r>
          </a:p>
          <a:p>
            <a:r>
              <a:rPr lang="en-IN" dirty="0"/>
              <a:t>mfapi.in</a:t>
            </a:r>
          </a:p>
          <a:p>
            <a:r>
              <a:rPr lang="en-IN" dirty="0"/>
              <a:t>Benchmark Datasets</a:t>
            </a:r>
          </a:p>
          <a:p>
            <a:endParaRPr lang="en-IN" dirty="0"/>
          </a:p>
          <a:p>
            <a:r>
              <a:rPr lang="en-IN" dirty="0"/>
              <a:t>Datasets Used:</a:t>
            </a:r>
          </a:p>
          <a:p>
            <a:r>
              <a:rPr lang="en-IN" dirty="0"/>
              <a:t>• Fund Master</a:t>
            </a:r>
          </a:p>
          <a:p>
            <a:r>
              <a:rPr lang="en-IN" dirty="0"/>
              <a:t>• NAV History</a:t>
            </a:r>
          </a:p>
          <a:p>
            <a:r>
              <a:rPr lang="en-IN" dirty="0"/>
              <a:t>• AUM Data</a:t>
            </a:r>
          </a:p>
          <a:p>
            <a:r>
              <a:rPr lang="en-IN" dirty="0"/>
              <a:t>• SIP Data</a:t>
            </a:r>
          </a:p>
          <a:p>
            <a:r>
              <a:rPr lang="en-IN" dirty="0"/>
              <a:t>• Scheme Performance</a:t>
            </a:r>
          </a:p>
          <a:p>
            <a:r>
              <a:rPr lang="en-IN" dirty="0"/>
              <a:t>• Holdings</a:t>
            </a:r>
          </a:p>
          <a:p>
            <a:r>
              <a:rPr lang="en-IN" dirty="0"/>
              <a:t>• Benchmark Indices</a:t>
            </a:r>
          </a:p>
        </p:txBody>
      </p:sp>
    </p:spTree>
    <p:extLst>
      <p:ext uri="{BB962C8B-B14F-4D97-AF65-F5344CB8AC3E}">
        <p14:creationId xmlns:p14="http://schemas.microsoft.com/office/powerpoint/2010/main" val="1231963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56554-D685-470F-BC28-E7064EEBA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688D8-6DEA-BBFD-36D2-2A6F1D714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Raw CSV Files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ETL Pipeline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SQLite Database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Analysis Layer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382486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CDA5C-870E-6E1C-9857-B75924509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ETL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45F7B-22E9-DCAC-CF01-D8F950495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Extract</a:t>
            </a:r>
          </a:p>
          <a:p>
            <a:r>
              <a:rPr lang="en-US" dirty="0"/>
              <a:t>Transform</a:t>
            </a:r>
          </a:p>
          <a:p>
            <a:r>
              <a:rPr lang="en-US" dirty="0"/>
              <a:t>Load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Tools:</a:t>
            </a:r>
          </a:p>
          <a:p>
            <a:pPr marL="0" indent="0">
              <a:buNone/>
            </a:pPr>
            <a:r>
              <a:rPr lang="en-US" dirty="0"/>
              <a:t>• Python</a:t>
            </a:r>
          </a:p>
          <a:p>
            <a:pPr marL="0" indent="0">
              <a:buNone/>
            </a:pPr>
            <a:r>
              <a:rPr lang="en-US" dirty="0"/>
              <a:t>• Pandas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err="1"/>
              <a:t>SQLAlchemy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6849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B53DF-E26C-591E-CC50-9C11372E0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7234A-3311-E179-F40A-74A4BFE43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 Schema</a:t>
            </a:r>
          </a:p>
          <a:p>
            <a:endParaRPr lang="en-US" dirty="0"/>
          </a:p>
          <a:p>
            <a:r>
              <a:rPr lang="en-US" dirty="0"/>
              <a:t>Tables: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err="1"/>
              <a:t>dim_fund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err="1"/>
              <a:t>fact_nav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err="1"/>
              <a:t>fact_aum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err="1"/>
              <a:t>fact_sip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err="1"/>
              <a:t>fact_transactions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3896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B1B90-21B5-2EF5-3601-BB90759C5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A9FCA-1AED-3B88-EFE8-A3FFFC547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AUM by Fund House</a:t>
            </a:r>
          </a:p>
          <a:p>
            <a:pPr marL="0" indent="0">
              <a:buNone/>
            </a:pPr>
            <a:r>
              <a:rPr lang="en-US" dirty="0"/>
              <a:t>• SIP Trends</a:t>
            </a:r>
          </a:p>
          <a:p>
            <a:pPr marL="0" indent="0">
              <a:buNone/>
            </a:pPr>
            <a:r>
              <a:rPr lang="en-US" dirty="0"/>
              <a:t>• Category Inflows</a:t>
            </a:r>
          </a:p>
          <a:p>
            <a:pPr marL="0" indent="0">
              <a:buNone/>
            </a:pPr>
            <a:r>
              <a:rPr lang="en-US" dirty="0"/>
              <a:t>• Fund Performance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Key Insights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4389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63CD3-686C-4434-3F62-D0530880E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Risk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CC322-420C-D770-81EA-3CD44192B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• Sharpe Ratio</a:t>
            </a:r>
          </a:p>
          <a:p>
            <a:pPr marL="0" indent="0">
              <a:buNone/>
            </a:pPr>
            <a:r>
              <a:rPr lang="en-IN" dirty="0"/>
              <a:t>• Sortino Ratio</a:t>
            </a:r>
          </a:p>
          <a:p>
            <a:pPr marL="0" indent="0">
              <a:buNone/>
            </a:pPr>
            <a:r>
              <a:rPr lang="en-IN" dirty="0"/>
              <a:t>• Alpha</a:t>
            </a:r>
          </a:p>
          <a:p>
            <a:pPr marL="0" indent="0">
              <a:buNone/>
            </a:pPr>
            <a:r>
              <a:rPr lang="en-IN" dirty="0"/>
              <a:t>• Beta</a:t>
            </a:r>
          </a:p>
          <a:p>
            <a:pPr marL="0" indent="0">
              <a:buNone/>
            </a:pPr>
            <a:r>
              <a:rPr lang="en-IN" dirty="0"/>
              <a:t>• Maximum Drawdown</a:t>
            </a:r>
          </a:p>
        </p:txBody>
      </p:sp>
    </p:spTree>
    <p:extLst>
      <p:ext uri="{BB962C8B-B14F-4D97-AF65-F5344CB8AC3E}">
        <p14:creationId xmlns:p14="http://schemas.microsoft.com/office/powerpoint/2010/main" val="3405451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9A620-7547-4206-7518-79EEB6257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Benchmark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49475-D009-BB75-E940-AD97F12EB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Benchmarks:</a:t>
            </a:r>
          </a:p>
          <a:p>
            <a:pPr marL="0" indent="0">
              <a:buNone/>
            </a:pPr>
            <a:r>
              <a:rPr lang="en-IN" dirty="0"/>
              <a:t>• Nifty 50</a:t>
            </a:r>
          </a:p>
          <a:p>
            <a:pPr marL="0" indent="0">
              <a:buNone/>
            </a:pPr>
            <a:r>
              <a:rPr lang="en-IN" dirty="0"/>
              <a:t>• Nifty 100</a:t>
            </a:r>
          </a:p>
          <a:p>
            <a:pPr marL="0" indent="0">
              <a:buNone/>
            </a:pPr>
            <a:r>
              <a:rPr lang="en-IN" dirty="0"/>
              <a:t>• BSE SmallCap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Comparison Results</a:t>
            </a:r>
          </a:p>
        </p:txBody>
      </p:sp>
    </p:spTree>
    <p:extLst>
      <p:ext uri="{BB962C8B-B14F-4D97-AF65-F5344CB8AC3E}">
        <p14:creationId xmlns:p14="http://schemas.microsoft.com/office/powerpoint/2010/main" val="2874640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EA4BF-4F1E-2700-9EB1-7594D860C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Demonstration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03A34-1D60-E140-1BFD-DD11A8822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KPI Overview</a:t>
            </a:r>
          </a:p>
          <a:p>
            <a:pPr marL="0" indent="0">
              <a:buNone/>
            </a:pPr>
            <a:r>
              <a:rPr lang="en-US" dirty="0"/>
              <a:t>• AUM Analysis</a:t>
            </a:r>
          </a:p>
          <a:p>
            <a:pPr marL="0" indent="0">
              <a:buNone/>
            </a:pPr>
            <a:r>
              <a:rPr lang="en-US" dirty="0"/>
              <a:t>• SIP Analysis</a:t>
            </a:r>
          </a:p>
          <a:p>
            <a:pPr marL="0" indent="0">
              <a:buNone/>
            </a:pPr>
            <a:r>
              <a:rPr lang="en-US" dirty="0"/>
              <a:t>• Risk Metrics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936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471E8-7B7C-C41C-B1D8-3408CBB57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553D6-6AB3-BA11-70A8-4A2F2C5D5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Top Performing Funds</a:t>
            </a:r>
          </a:p>
          <a:p>
            <a:pPr marL="0" indent="0">
              <a:buNone/>
            </a:pPr>
            <a:r>
              <a:rPr lang="en-US" dirty="0"/>
              <a:t>• Highest Sharpe Funds</a:t>
            </a:r>
          </a:p>
          <a:p>
            <a:pPr marL="0" indent="0">
              <a:buNone/>
            </a:pPr>
            <a:r>
              <a:rPr lang="en-US" dirty="0"/>
              <a:t>• SIP Growth Trends</a:t>
            </a:r>
          </a:p>
          <a:p>
            <a:pPr marL="0" indent="0">
              <a:buNone/>
            </a:pPr>
            <a:r>
              <a:rPr lang="en-US" dirty="0"/>
              <a:t>• Category Insights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9108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A12FF-1C5F-A2C5-EBDB-A29973AE3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69A8C-AD9A-9505-6144-281D7DBCB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Project Outcomes</a:t>
            </a:r>
          </a:p>
          <a:p>
            <a:pPr marL="0" indent="0">
              <a:buNone/>
            </a:pPr>
            <a:r>
              <a:rPr lang="en-US" dirty="0"/>
              <a:t>• Learnings</a:t>
            </a:r>
          </a:p>
          <a:p>
            <a:pPr marL="0" indent="0">
              <a:buNone/>
            </a:pPr>
            <a:r>
              <a:rPr lang="en-US" dirty="0"/>
              <a:t>• Future Enhancements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4680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202</Words>
  <Application>Microsoft Office PowerPoint</Application>
  <PresentationFormat>Widescreen</PresentationFormat>
  <Paragraphs>88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Mutual Fund Analytics Platform</vt:lpstr>
      <vt:lpstr>Project Overview</vt:lpstr>
      <vt:lpstr>Data Sources</vt:lpstr>
      <vt:lpstr>Architecture</vt:lpstr>
      <vt:lpstr>ETL Pipeline</vt:lpstr>
      <vt:lpstr>Database Design</vt:lpstr>
      <vt:lpstr>Exploratory Data Analysis</vt:lpstr>
      <vt:lpstr>Risk Metrics</vt:lpstr>
      <vt:lpstr>Benchmark Analysis</vt:lpstr>
      <vt:lpstr>Dashboard Demonstration</vt:lpstr>
      <vt:lpstr>Key Findings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Dadi Srinivas</dc:creator>
  <cp:lastModifiedBy>Dadi Srinivas</cp:lastModifiedBy>
  <cp:revision>1</cp:revision>
  <dcterms:created xsi:type="dcterms:W3CDTF">2026-06-24T04:53:08Z</dcterms:created>
  <dcterms:modified xsi:type="dcterms:W3CDTF">2026-06-24T05:01:58Z</dcterms:modified>
</cp:coreProperties>
</file>